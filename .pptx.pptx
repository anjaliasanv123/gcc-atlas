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Bricolage Grotesque" panose="020B0604020202020204" charset="0"/>
      <p:regular r:id="rId14"/>
      <p:bold r:id="rId15"/>
    </p:embeddedFont>
    <p:embeddedFont>
      <p:font typeface="IBM Plex Mono" panose="020B0509050203000203" pitchFamily="49" charset="0"/>
      <p:regular r:id="rId16"/>
    </p:embeddedFont>
    <p:embeddedFont>
      <p:font typeface="IBM Plex Sans" panose="020B0503050203000203"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455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idea: the market is big, but nobody can say which numbers are right. Atlas shows the disagreement instead of hiding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proven with numbers, taken from the research brief. Each gap is the highest source divided by the lowest. Reasons differ: companies versus units, 7, 8 or 9 cities, and one report that does not name its publisher.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user is the new entrant, because that is where the decision is made and the cost of a wrong choice is highest. The other four groups benefit once the data is in one place. Lawyers and auditors are grouped under advisors.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84% and 55% figures come from a 2024 survey of 255 US and UK decision-makers. The 70–75% figure is ICRA’s estimate of the GCC cost 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logic: pain at the moment of decision first, then the trust layer under it (they ship together), then the modules that build on both. Pipeline signals have a clear buyer but an existing crowd.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which opportunities matter most and why. The conflict ledger is the moat: anyone can copy a directory, but a reputation for showing where sources disagree takes time to earn.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modules are in the working prototype. Every figure carries a confidence tag: A for a report or official page, B for news on a report, C for vendor or unverified material.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path: open the Conflict ledger, then City compare with 500 people, then ask “Bengaluru vs Hyderabad for a 500-person GCC”. The assistant uses Claude when available and falls back to built-in rules, so it always answers.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promise to every group is the same: you can see where a number came from and who disagrees with it. Providers get value only if they accept being verified, so launch with new entrants as the demand side first.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Atlas is not meant to replace the Flexiple GCC pages. It shows how the same data could carry source and disagreement information, which is the part nobody else offers.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in the interview. Showing gaps instead of filling them with guesses is the product principle, not an apology.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F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13201A"/>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07"/>
            <a:ext cx="10566400" cy="4424693"/>
          </a:xfrm>
          <a:prstGeom prst="rect">
            <a:avLst/>
          </a:prstGeom>
          <a:noFill/>
          <a:ln/>
        </p:spPr>
        <p:txBody>
          <a:bodyPr wrap="square" lIns="0" tIns="0" rIns="0" bIns="0" rtlCol="0" anchor="t"/>
          <a:lstStyle>
            <a:lvl1pPr marL="0" indent="0" algn="l">
              <a:lnSpc>
                <a:spcPct val="140000"/>
              </a:lnSpc>
              <a:buNone/>
              <a:defRPr lang="en-US" sz="1600" dirty="0">
                <a:solidFill>
                  <a:srgbClr val="13201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F2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13201A"/>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07"/>
            <a:ext cx="10566400" cy="4424693"/>
          </a:xfrm>
          <a:prstGeom prst="rect">
            <a:avLst/>
          </a:prstGeom>
          <a:noFill/>
          <a:ln/>
        </p:spPr>
        <p:txBody>
          <a:bodyPr wrap="square" lIns="0" tIns="0" rIns="0" bIns="0" rtlCol="0" anchor="t"/>
          <a:lstStyle>
            <a:lvl1pPr marL="0" indent="0" algn="l">
              <a:lnSpc>
                <a:spcPct val="140000"/>
              </a:lnSpc>
              <a:buNone/>
              <a:defRPr lang="en-US" sz="1600" dirty="0">
                <a:solidFill>
                  <a:srgbClr val="13201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laude.ai/artifact/8e1CoRTDYhyxKcxf1sbveB"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93A6FF"/>
                </a:solidFill>
                <a:latin typeface="IBM Plex Mono" pitchFamily="49" charset="0"/>
                <a:ea typeface="IBM Plex Mono" pitchFamily="49" charset="-122"/>
                <a:cs typeface="IBM Plex Mono" pitchFamily="49" charset="-120"/>
              </a:rPr>
              <a:t>FLEXIPLE · PRODUCT INTERN ASSIGNMENT</a:t>
            </a:r>
            <a:endParaRPr lang="en-US" sz="1400" dirty="0"/>
          </a:p>
        </p:txBody>
      </p:sp>
      <p:sp>
        <p:nvSpPr>
          <p:cNvPr id="3" name="Text 1"/>
          <p:cNvSpPr>
            <a:spLocks noGrp="1"/>
          </p:cNvSpPr>
          <p:nvPr>
            <p:ph type="title"/>
          </p:nvPr>
        </p:nvSpPr>
        <p:spPr>
          <a:xfrm>
            <a:off x="812800" y="2247966"/>
            <a:ext cx="10883392" cy="1295400"/>
          </a:xfrm>
          <a:prstGeom prst="rect">
            <a:avLst/>
          </a:prstGeom>
          <a:noFill/>
          <a:ln/>
        </p:spPr>
        <p:txBody>
          <a:bodyPr wrap="square" lIns="0" tIns="0" rIns="0" bIns="0" rtlCol="0" anchor="t">
            <a:normAutofit/>
          </a:bodyPr>
          <a:lstStyle/>
          <a:p>
            <a:pPr marL="0" indent="0" algn="l">
              <a:lnSpc>
                <a:spcPts val="10000"/>
              </a:lnSpc>
              <a:buNone/>
            </a:pPr>
            <a:r>
              <a:rPr lang="en-US" sz="10000" b="1" i="0" kern="0" spc="-200" dirty="0">
                <a:solidFill>
                  <a:srgbClr val="EFF2EE"/>
                </a:solidFill>
                <a:latin typeface="Bricolage Grotesque" pitchFamily="34" charset="0"/>
                <a:ea typeface="Bricolage Grotesque" pitchFamily="34" charset="-122"/>
                <a:cs typeface="Bricolage Grotesque" pitchFamily="34" charset="-120"/>
              </a:rPr>
              <a:t>GCC Atlas</a:t>
            </a:r>
            <a:endParaRPr lang="en-US" sz="10000" dirty="0"/>
          </a:p>
        </p:txBody>
      </p:sp>
      <p:sp>
        <p:nvSpPr>
          <p:cNvPr id="4" name="Text 2"/>
          <p:cNvSpPr/>
          <p:nvPr/>
        </p:nvSpPr>
        <p:spPr>
          <a:xfrm>
            <a:off x="812800" y="3721166"/>
            <a:ext cx="9156700" cy="878814"/>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EFF2EE"/>
                </a:solidFill>
                <a:latin typeface="IBM Plex Sans" pitchFamily="34" charset="0"/>
                <a:ea typeface="IBM Plex Sans" pitchFamily="34" charset="-122"/>
                <a:cs typeface="IBM Plex Sans" pitchFamily="34" charset="-120"/>
              </a:rPr>
              <a:t>Every number about India’s GCCs, next to the reports that disagree about it.</a:t>
            </a:r>
            <a:endParaRPr lang="en-US" sz="2800" dirty="0"/>
          </a:p>
        </p:txBody>
      </p:sp>
      <p:sp>
        <p:nvSpPr>
          <p:cNvPr id="5" name="Text 3"/>
          <p:cNvSpPr/>
          <p:nvPr/>
        </p:nvSpPr>
        <p:spPr>
          <a:xfrm>
            <a:off x="812800" y="5760773"/>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2B2A8"/>
                </a:solidFill>
                <a:latin typeface="IBM Plex Sans" pitchFamily="34" charset="0"/>
                <a:ea typeface="IBM Plex Sans" pitchFamily="34" charset="-122"/>
                <a:cs typeface="IBM Plex Sans" pitchFamily="34" charset="-120"/>
              </a:rPr>
              <a:t>Anjali Uppu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Even the basics have no single answer</a:t>
            </a:r>
            <a:endParaRPr lang="en-US" sz="3600" dirty="0"/>
          </a:p>
        </p:txBody>
      </p:sp>
      <p:sp>
        <p:nvSpPr>
          <p:cNvPr id="3" name="Shape 1"/>
          <p:cNvSpPr/>
          <p:nvPr/>
        </p:nvSpPr>
        <p:spPr>
          <a:xfrm>
            <a:off x="815975" y="2168195"/>
            <a:ext cx="3380317" cy="2252464"/>
          </a:xfrm>
          <a:prstGeom prst="roundRect">
            <a:avLst>
              <a:gd name="adj" fmla="val 4370"/>
            </a:avLst>
          </a:prstGeom>
          <a:solidFill>
            <a:srgbClr val="FBFCFA"/>
          </a:solidFill>
          <a:ln w="6350">
            <a:solidFill>
              <a:srgbClr val="D3DAD2"/>
            </a:solidFill>
            <a:prstDash val="solid"/>
          </a:ln>
        </p:spPr>
        <p:txBody>
          <a:bodyPr/>
          <a:lstStyle/>
          <a:p>
            <a:endParaRPr/>
          </a:p>
        </p:txBody>
      </p:sp>
      <p:sp>
        <p:nvSpPr>
          <p:cNvPr id="4" name="Text 2"/>
          <p:cNvSpPr/>
          <p:nvPr/>
        </p:nvSpPr>
        <p:spPr>
          <a:xfrm>
            <a:off x="1071033" y="2423253"/>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Gap between sources</a:t>
            </a:r>
            <a:endParaRPr lang="en-US" sz="1200" dirty="0"/>
          </a:p>
        </p:txBody>
      </p:sp>
      <p:sp>
        <p:nvSpPr>
          <p:cNvPr id="5" name="Text 3"/>
          <p:cNvSpPr/>
          <p:nvPr/>
        </p:nvSpPr>
        <p:spPr>
          <a:xfrm>
            <a:off x="1071033" y="2738173"/>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AE3A2D"/>
                </a:solidFill>
                <a:latin typeface="Bricolage Grotesque" pitchFamily="34" charset="0"/>
                <a:ea typeface="Bricolage Grotesque" pitchFamily="34" charset="-122"/>
                <a:cs typeface="Bricolage Grotesque" pitchFamily="34" charset="-120"/>
              </a:rPr>
              <a:t>25%</a:t>
            </a:r>
            <a:endParaRPr lang="en-US" sz="3600" dirty="0"/>
          </a:p>
        </p:txBody>
      </p:sp>
      <p:sp>
        <p:nvSpPr>
          <p:cNvPr id="6" name="Text 4"/>
          <p:cNvSpPr/>
          <p:nvPr/>
        </p:nvSpPr>
        <p:spPr>
          <a:xfrm>
            <a:off x="1071033" y="3342680"/>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GCC office leasing, H1 2026. Four reports say 16.5 to 20.6 million sq ft.</a:t>
            </a:r>
            <a:endParaRPr lang="en-US" sz="1600" dirty="0"/>
          </a:p>
        </p:txBody>
      </p:sp>
      <p:sp>
        <p:nvSpPr>
          <p:cNvPr id="7" name="Shape 5"/>
          <p:cNvSpPr/>
          <p:nvPr/>
        </p:nvSpPr>
        <p:spPr>
          <a:xfrm>
            <a:off x="4405842" y="2168195"/>
            <a:ext cx="3380317" cy="2252464"/>
          </a:xfrm>
          <a:prstGeom prst="roundRect">
            <a:avLst>
              <a:gd name="adj" fmla="val 4370"/>
            </a:avLst>
          </a:prstGeom>
          <a:solidFill>
            <a:srgbClr val="FBFCFA"/>
          </a:solidFill>
          <a:ln w="6350">
            <a:solidFill>
              <a:srgbClr val="D3DAD2"/>
            </a:solidFill>
            <a:prstDash val="solid"/>
          </a:ln>
        </p:spPr>
        <p:txBody>
          <a:bodyPr/>
          <a:lstStyle/>
          <a:p>
            <a:endParaRPr/>
          </a:p>
        </p:txBody>
      </p:sp>
      <p:sp>
        <p:nvSpPr>
          <p:cNvPr id="8" name="Text 6"/>
          <p:cNvSpPr/>
          <p:nvPr/>
        </p:nvSpPr>
        <p:spPr>
          <a:xfrm>
            <a:off x="4660900" y="2423253"/>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Gap between sources</a:t>
            </a:r>
            <a:endParaRPr lang="en-US" sz="1200" dirty="0"/>
          </a:p>
        </p:txBody>
      </p:sp>
      <p:sp>
        <p:nvSpPr>
          <p:cNvPr id="9" name="Text 7"/>
          <p:cNvSpPr/>
          <p:nvPr/>
        </p:nvSpPr>
        <p:spPr>
          <a:xfrm>
            <a:off x="4660900" y="2738173"/>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AE3A2D"/>
                </a:solidFill>
                <a:latin typeface="Bricolage Grotesque" pitchFamily="34" charset="0"/>
                <a:ea typeface="Bricolage Grotesque" pitchFamily="34" charset="-122"/>
                <a:cs typeface="Bricolage Grotesque" pitchFamily="34" charset="-120"/>
              </a:rPr>
              <a:t>85%</a:t>
            </a:r>
            <a:endParaRPr lang="en-US" sz="3600" dirty="0"/>
          </a:p>
        </p:txBody>
      </p:sp>
      <p:sp>
        <p:nvSpPr>
          <p:cNvPr id="10" name="Text 8"/>
          <p:cNvSpPr/>
          <p:nvPr/>
        </p:nvSpPr>
        <p:spPr>
          <a:xfrm>
            <a:off x="4660900" y="3342680"/>
            <a:ext cx="2956306" cy="57401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GCCs in Bengaluru. 487 in one report, 900+ units in another.</a:t>
            </a:r>
            <a:endParaRPr lang="en-US" sz="1600" dirty="0"/>
          </a:p>
        </p:txBody>
      </p:sp>
      <p:sp>
        <p:nvSpPr>
          <p:cNvPr id="11" name="Shape 9"/>
          <p:cNvSpPr/>
          <p:nvPr/>
        </p:nvSpPr>
        <p:spPr>
          <a:xfrm>
            <a:off x="7995709" y="2168195"/>
            <a:ext cx="3380317" cy="2252464"/>
          </a:xfrm>
          <a:prstGeom prst="roundRect">
            <a:avLst>
              <a:gd name="adj" fmla="val 4370"/>
            </a:avLst>
          </a:prstGeom>
          <a:solidFill>
            <a:srgbClr val="FBFCFA"/>
          </a:solidFill>
          <a:ln w="6350">
            <a:solidFill>
              <a:srgbClr val="D3DAD2"/>
            </a:solidFill>
            <a:prstDash val="solid"/>
          </a:ln>
        </p:spPr>
        <p:txBody>
          <a:bodyPr/>
          <a:lstStyle/>
          <a:p>
            <a:endParaRPr/>
          </a:p>
        </p:txBody>
      </p:sp>
      <p:sp>
        <p:nvSpPr>
          <p:cNvPr id="12" name="Text 10"/>
          <p:cNvSpPr/>
          <p:nvPr/>
        </p:nvSpPr>
        <p:spPr>
          <a:xfrm>
            <a:off x="8250767" y="2423253"/>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Gap between sources</a:t>
            </a:r>
            <a:endParaRPr lang="en-US" sz="1200" dirty="0"/>
          </a:p>
        </p:txBody>
      </p:sp>
      <p:sp>
        <p:nvSpPr>
          <p:cNvPr id="13" name="Text 11"/>
          <p:cNvSpPr/>
          <p:nvPr/>
        </p:nvSpPr>
        <p:spPr>
          <a:xfrm>
            <a:off x="8250767" y="2738173"/>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AE3A2D"/>
                </a:solidFill>
                <a:latin typeface="Bricolage Grotesque" pitchFamily="34" charset="0"/>
                <a:ea typeface="Bricolage Grotesque" pitchFamily="34" charset="-122"/>
                <a:cs typeface="Bricolage Grotesque" pitchFamily="34" charset="-120"/>
              </a:rPr>
              <a:t>31%</a:t>
            </a:r>
            <a:endParaRPr lang="en-US" sz="3600" dirty="0"/>
          </a:p>
        </p:txBody>
      </p:sp>
      <p:sp>
        <p:nvSpPr>
          <p:cNvPr id="14" name="Text 12"/>
          <p:cNvSpPr/>
          <p:nvPr/>
        </p:nvSpPr>
        <p:spPr>
          <a:xfrm>
            <a:off x="8250767" y="3342680"/>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GCCs in India. About 1,700 to 2,232, depending on who counts.</a:t>
            </a:r>
            <a:endParaRPr lang="en-US" sz="1600" dirty="0"/>
          </a:p>
        </p:txBody>
      </p:sp>
      <p:sp>
        <p:nvSpPr>
          <p:cNvPr id="15" name="Text 13"/>
          <p:cNvSpPr/>
          <p:nvPr/>
        </p:nvSpPr>
        <p:spPr>
          <a:xfrm>
            <a:off x="812800" y="5273146"/>
            <a:ext cx="98107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01A"/>
                </a:solidFill>
                <a:latin typeface="IBM Plex Sans" pitchFamily="34" charset="0"/>
                <a:ea typeface="IBM Plex Sans" pitchFamily="34" charset="-122"/>
                <a:cs typeface="IBM Plex Sans" pitchFamily="34" charset="-120"/>
              </a:rPr>
              <a:t>A company entering India cannot tell which number is right, so it asks someone it knows. (The brief’s 2,000+ sits in the range.) Even a provider’s own page claims both 135 and 150+ centres delivered.</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Sources: Cushman &amp; Wakefield, Colliers, Knight Frank, Vestian, JLL, Zinnov–Nasscom, OceanFrogs, ANSR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Five groups are hurt by the asymmetry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204774"/>
          <a:ext cx="10553700" cy="2476500"/>
        </p:xfrm>
        <a:graphic>
          <a:graphicData uri="http://schemas.openxmlformats.org/drawingml/2006/table">
            <a:tbl>
              <a:tblPr/>
              <a:tblGrid>
                <a:gridCol w="2532888">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Player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Hurt by</a:t>
                      </a:r>
                      <a:endParaRPr lang="en-US" sz="1500" dirty="0">
                        <a:latin typeface="IBM Plex Sans" charset="0"/>
                        <a:ea typeface="IBM Plex Sans" charset="0"/>
                        <a:cs typeface="IBM Plex Sans" charset="0"/>
                      </a:endParaRPr>
                    </a:p>
                  </a:txBody>
                  <a:tcPr marL="66675" marR="66675" marT="66675" marB="66675">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Relies on today</a:t>
                      </a:r>
                      <a:endParaRPr lang="en-US" sz="1500" dirty="0">
                        <a:latin typeface="IBM Plex Sans" charset="0"/>
                        <a:ea typeface="IBM Plex Sans" charset="0"/>
                        <a:cs typeface="IBM Plex Sans" charset="0"/>
                      </a:endParaRPr>
                    </a:p>
                  </a:txBody>
                  <a:tcPr marL="66675" marR="66675" marT="66675" marB="66675">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New-entrant company</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Picks a city and provider blind</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Referrals, Big 4, broker reports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Setup providers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Cannot prove what they delivered</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Self-published rankings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Real estate firms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Each firm’s report disagrees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Own research as lead generation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Recruiters and EOR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Do not know who hires next</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Press releases, LinkedIn</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State governments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Policies are hard to compare</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Roadshows, investor conclaves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5557574"/>
            <a:ext cx="981075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01A"/>
                </a:solidFill>
                <a:latin typeface="IBM Plex Sans" pitchFamily="34" charset="0"/>
                <a:ea typeface="IBM Plex Sans" pitchFamily="34" charset="-122"/>
                <a:cs typeface="IBM Plex Sans" pitchFamily="34" charset="-120"/>
              </a:rPr>
              <a:t>The data exists, but it sits in filings, press releases, consultant reports and people’s heads.</a:t>
            </a:r>
            <a:endParaRPr lang="en-US" sz="16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Source: Flexiple brief; research on Everest PEAK Matrix, JLL, CBRE, Quess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01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FF2EE"/>
                </a:solidFill>
                <a:latin typeface="Bricolage Grotesque" pitchFamily="34" charset="0"/>
                <a:ea typeface="Bricolage Grotesque" pitchFamily="34" charset="-122"/>
                <a:cs typeface="Bricolage Grotesque" pitchFamily="34" charset="-120"/>
              </a:rPr>
              <a:t>A wrong setup call is expensive</a:t>
            </a:r>
            <a:endParaRPr lang="en-US" sz="3600" dirty="0"/>
          </a:p>
        </p:txBody>
      </p:sp>
      <p:sp>
        <p:nvSpPr>
          <p:cNvPr id="3" name="Shape 1"/>
          <p:cNvSpPr/>
          <p:nvPr/>
        </p:nvSpPr>
        <p:spPr>
          <a:xfrm>
            <a:off x="815975" y="2188502"/>
            <a:ext cx="3380317" cy="2211851"/>
          </a:xfrm>
          <a:prstGeom prst="roundRect">
            <a:avLst>
              <a:gd name="adj" fmla="val 4450"/>
            </a:avLst>
          </a:prstGeom>
          <a:solidFill>
            <a:srgbClr val="1D2D25"/>
          </a:solidFill>
          <a:ln w="6350">
            <a:solidFill>
              <a:srgbClr val="33463B"/>
            </a:solidFill>
            <a:prstDash val="solid"/>
          </a:ln>
        </p:spPr>
        <p:txBody>
          <a:bodyPr/>
          <a:lstStyle/>
          <a:p>
            <a:endParaRPr/>
          </a:p>
        </p:txBody>
      </p:sp>
      <p:sp>
        <p:nvSpPr>
          <p:cNvPr id="4" name="Text 2"/>
          <p:cNvSpPr/>
          <p:nvPr/>
        </p:nvSpPr>
        <p:spPr>
          <a:xfrm>
            <a:off x="1071033" y="2443559"/>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93A6FF"/>
                </a:solidFill>
                <a:latin typeface="Bricolage Grotesque" pitchFamily="34" charset="0"/>
                <a:ea typeface="Bricolage Grotesque" pitchFamily="34" charset="-122"/>
                <a:cs typeface="Bricolage Grotesque" pitchFamily="34" charset="-120"/>
              </a:rPr>
              <a:t>70–75%</a:t>
            </a:r>
            <a:endParaRPr lang="en-US" sz="3600" dirty="0"/>
          </a:p>
        </p:txBody>
      </p:sp>
      <p:sp>
        <p:nvSpPr>
          <p:cNvPr id="5" name="Text 3"/>
          <p:cNvSpPr/>
          <p:nvPr/>
        </p:nvSpPr>
        <p:spPr>
          <a:xfrm>
            <a:off x="1071033" y="3048067"/>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FF2EE"/>
                </a:solidFill>
                <a:latin typeface="IBM Plex Sans" pitchFamily="34" charset="0"/>
                <a:ea typeface="IBM Plex Sans" pitchFamily="34" charset="-122"/>
                <a:cs typeface="IBM Plex Sans" pitchFamily="34" charset="-120"/>
              </a:rPr>
              <a:t>of a GCC’s cost is manpower and rent, so where you set up drives the budget.</a:t>
            </a:r>
            <a:endParaRPr lang="en-US" sz="1600" dirty="0"/>
          </a:p>
        </p:txBody>
      </p:sp>
      <p:sp>
        <p:nvSpPr>
          <p:cNvPr id="6" name="Shape 4"/>
          <p:cNvSpPr/>
          <p:nvPr/>
        </p:nvSpPr>
        <p:spPr>
          <a:xfrm>
            <a:off x="4405842" y="2188502"/>
            <a:ext cx="3380317" cy="2211851"/>
          </a:xfrm>
          <a:prstGeom prst="roundRect">
            <a:avLst>
              <a:gd name="adj" fmla="val 4450"/>
            </a:avLst>
          </a:prstGeom>
          <a:solidFill>
            <a:srgbClr val="1D2D25"/>
          </a:solidFill>
          <a:ln w="6350">
            <a:solidFill>
              <a:srgbClr val="33463B"/>
            </a:solidFill>
            <a:prstDash val="solid"/>
          </a:ln>
        </p:spPr>
        <p:txBody>
          <a:bodyPr/>
          <a:lstStyle/>
          <a:p>
            <a:endParaRPr/>
          </a:p>
        </p:txBody>
      </p:sp>
      <p:sp>
        <p:nvSpPr>
          <p:cNvPr id="7" name="Text 5"/>
          <p:cNvSpPr/>
          <p:nvPr/>
        </p:nvSpPr>
        <p:spPr>
          <a:xfrm>
            <a:off x="4660900" y="2443559"/>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93A6FF"/>
                </a:solidFill>
                <a:latin typeface="Bricolage Grotesque" pitchFamily="34" charset="0"/>
                <a:ea typeface="Bricolage Grotesque" pitchFamily="34" charset="-122"/>
                <a:cs typeface="Bricolage Grotesque" pitchFamily="34" charset="-120"/>
              </a:rPr>
              <a:t>84%</a:t>
            </a:r>
            <a:endParaRPr lang="en-US" sz="3600" dirty="0"/>
          </a:p>
        </p:txBody>
      </p:sp>
      <p:sp>
        <p:nvSpPr>
          <p:cNvPr id="8" name="Text 6"/>
          <p:cNvSpPr/>
          <p:nvPr/>
        </p:nvSpPr>
        <p:spPr>
          <a:xfrm>
            <a:off x="4660900" y="3048067"/>
            <a:ext cx="2956306" cy="112262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FF2EE"/>
                </a:solidFill>
                <a:latin typeface="IBM Plex Sans" pitchFamily="34" charset="0"/>
                <a:ea typeface="IBM Plex Sans" pitchFamily="34" charset="-122"/>
                <a:cs typeface="IBM Plex Sans" pitchFamily="34" charset="-120"/>
              </a:rPr>
              <a:t>of 255 US and UK decision-makers cite communication and culture as a setup challenge.</a:t>
            </a:r>
            <a:endParaRPr lang="en-US" sz="1600" dirty="0"/>
          </a:p>
        </p:txBody>
      </p:sp>
      <p:sp>
        <p:nvSpPr>
          <p:cNvPr id="9" name="Shape 7"/>
          <p:cNvSpPr/>
          <p:nvPr/>
        </p:nvSpPr>
        <p:spPr>
          <a:xfrm>
            <a:off x="7995709" y="2188502"/>
            <a:ext cx="3380317" cy="2211851"/>
          </a:xfrm>
          <a:prstGeom prst="roundRect">
            <a:avLst>
              <a:gd name="adj" fmla="val 4450"/>
            </a:avLst>
          </a:prstGeom>
          <a:solidFill>
            <a:srgbClr val="1D2D25"/>
          </a:solidFill>
          <a:ln w="6350">
            <a:solidFill>
              <a:srgbClr val="33463B"/>
            </a:solidFill>
            <a:prstDash val="solid"/>
          </a:ln>
        </p:spPr>
        <p:txBody>
          <a:bodyPr/>
          <a:lstStyle/>
          <a:p>
            <a:endParaRPr/>
          </a:p>
        </p:txBody>
      </p:sp>
      <p:sp>
        <p:nvSpPr>
          <p:cNvPr id="10" name="Text 8"/>
          <p:cNvSpPr/>
          <p:nvPr/>
        </p:nvSpPr>
        <p:spPr>
          <a:xfrm>
            <a:off x="8250767" y="2443559"/>
            <a:ext cx="2956306" cy="528307"/>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93A6FF"/>
                </a:solidFill>
                <a:latin typeface="Bricolage Grotesque" pitchFamily="34" charset="0"/>
                <a:ea typeface="Bricolage Grotesque" pitchFamily="34" charset="-122"/>
                <a:cs typeface="Bricolage Grotesque" pitchFamily="34" charset="-120"/>
              </a:rPr>
              <a:t>55%</a:t>
            </a:r>
            <a:endParaRPr lang="en-US" sz="3600" dirty="0"/>
          </a:p>
        </p:txBody>
      </p:sp>
      <p:sp>
        <p:nvSpPr>
          <p:cNvPr id="11" name="Text 9"/>
          <p:cNvSpPr/>
          <p:nvPr/>
        </p:nvSpPr>
        <p:spPr>
          <a:xfrm>
            <a:off x="8250767" y="3048067"/>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FF2EE"/>
                </a:solidFill>
                <a:latin typeface="IBM Plex Sans" pitchFamily="34" charset="0"/>
                <a:ea typeface="IBM Plex Sans" pitchFamily="34" charset="-122"/>
                <a:cs typeface="IBM Plex Sans" pitchFamily="34" charset="-120"/>
              </a:rPr>
              <a:t>cite compliance, which depends on state and national rules that keep changing.</a:t>
            </a:r>
            <a:endParaRPr lang="en-US" sz="1600" dirty="0"/>
          </a:p>
        </p:txBody>
      </p:sp>
      <p:sp>
        <p:nvSpPr>
          <p:cNvPr id="12" name="Text 10"/>
          <p:cNvSpPr/>
          <p:nvPr/>
        </p:nvSpPr>
        <p:spPr>
          <a:xfrm>
            <a:off x="812800" y="5273146"/>
            <a:ext cx="98107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FF2EE"/>
                </a:solidFill>
                <a:latin typeface="IBM Plex Sans" pitchFamily="34" charset="0"/>
                <a:ea typeface="IBM Plex Sans" pitchFamily="34" charset="-122"/>
                <a:cs typeface="IBM Plex Sans" pitchFamily="34" charset="-120"/>
              </a:rPr>
              <a:t>Advice comes from parties paid when the company says yes. Some “best consultant” lists are written by providers that rank themselves first.</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2B2A8"/>
                </a:solidFill>
                <a:latin typeface="IBM Plex Mono" pitchFamily="49" charset="0"/>
                <a:ea typeface="IBM Plex Mono" pitchFamily="49" charset="-122"/>
                <a:cs typeface="IBM Plex Mono" pitchFamily="49" charset="-120"/>
              </a:rPr>
              <a:t>Sources: ICRA via Business Standard; Feedback Insights and CaptiveAide, 2024; Pillsbury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Five opportunities, ranked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285141"/>
          <a:ext cx="10553700" cy="2315766"/>
        </p:xfrm>
        <a:graphic>
          <a:graphicData uri="http://schemas.openxmlformats.org/drawingml/2006/table">
            <a:tbl>
              <a:tblPr/>
              <a:tblGrid>
                <a:gridCol w="844296">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4010406">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3201A"/>
                          </a:solidFill>
                          <a:latin typeface="IBM Plex Sans" pitchFamily="34" charset="0"/>
                          <a:ea typeface="IBM Plex Sans" pitchFamily="34" charset="-122"/>
                          <a:cs typeface="IBM Plex Sans" pitchFamily="34" charset="-120"/>
                        </a:rPr>
                        <a:t>Rank</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1960"/>
                        </a:lnSpc>
                        <a:buNone/>
                      </a:pPr>
                      <a:r>
                        <a:rPr lang="en-US" sz="1400" b="1" dirty="0">
                          <a:solidFill>
                            <a:srgbClr val="13201A"/>
                          </a:solidFill>
                          <a:latin typeface="IBM Plex Sans" pitchFamily="34" charset="0"/>
                          <a:ea typeface="IBM Plex Sans" pitchFamily="34" charset="-122"/>
                          <a:cs typeface="IBM Plex Sans" pitchFamily="34" charset="-120"/>
                        </a:rPr>
                        <a:t>Opportunity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1960"/>
                        </a:lnSpc>
                        <a:buNone/>
                      </a:pPr>
                      <a:r>
                        <a:rPr lang="en-US" sz="1400" b="1" dirty="0">
                          <a:solidFill>
                            <a:srgbClr val="13201A"/>
                          </a:solidFill>
                          <a:latin typeface="IBM Plex Sans" pitchFamily="34" charset="0"/>
                          <a:ea typeface="IBM Plex Sans" pitchFamily="34" charset="-122"/>
                          <a:cs typeface="IBM Plex Sans" pitchFamily="34" charset="-120"/>
                        </a:rPr>
                        <a:t>First user</a:t>
                      </a:r>
                      <a:endParaRPr lang="en-US" sz="1400" dirty="0">
                        <a:latin typeface="IBM Plex Sans" charset="0"/>
                        <a:ea typeface="IBM Plex Sans" charset="0"/>
                        <a:cs typeface="IBM Plex Sans" charset="0"/>
                      </a:endParaRPr>
                    </a:p>
                  </a:txBody>
                  <a:tcPr marL="62230" marR="62230" marT="62230" marB="62230">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1960"/>
                        </a:lnSpc>
                        <a:buNone/>
                      </a:pPr>
                      <a:r>
                        <a:rPr lang="en-US" sz="1400" b="1" dirty="0">
                          <a:solidFill>
                            <a:srgbClr val="13201A"/>
                          </a:solidFill>
                          <a:latin typeface="IBM Plex Sans" pitchFamily="34" charset="0"/>
                          <a:ea typeface="IBM Plex Sans" pitchFamily="34" charset="-122"/>
                          <a:cs typeface="IBM Plex Sans" pitchFamily="34" charset="-120"/>
                        </a:rPr>
                        <a:t>Why it ranks here</a:t>
                      </a:r>
                      <a:endParaRPr lang="en-US" sz="1400" dirty="0">
                        <a:latin typeface="IBM Plex Sans" charset="0"/>
                        <a:ea typeface="IBM Plex Sans" charset="0"/>
                        <a:cs typeface="IBM Plex Sans" charset="0"/>
                      </a:endParaRPr>
                    </a:p>
                  </a:txBody>
                  <a:tcPr marL="62230" marR="62230" marT="62230" marB="62230">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Location decision engine</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New entrants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Highest pain, highest value</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Conflict ledger of all sources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Everyone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Fixes the root problem</a:t>
                      </a:r>
                      <a:endParaRPr lang="en-US" sz="1400" dirty="0">
                        <a:latin typeface="IBM Plex Sans" charset="0"/>
                        <a:ea typeface="IBM Plex Sans" charset="0"/>
                        <a:cs typeface="IBM Plex Sans" charset="0"/>
                      </a:endParaRPr>
                    </a:p>
                  </a:txBody>
                  <a:tcPr marL="62230" marR="62230" marT="62230" marB="62230">
                    <a:lnL w="12700" cap="flat" cmpd="sng" algn="ctr">
                      <a:solidFill>
                        <a:srgbClr val="B3B8C7"/>
                      </a:solidFill>
                      <a:prstDash val="solid"/>
                      <a:round/>
                      <a:headEnd type="none" w="med" len="med"/>
                      <a:tailEnd type="none" w="med" len="med"/>
                    </a:lnL>
                    <a:lnR w="12700" cap="flat" cmpd="sng" algn="ctr">
                      <a:solidFill>
                        <a:srgbClr val="B3B8C7"/>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3B8C7"/>
                      </a:solidFill>
                      <a:prstDash val="solid"/>
                      <a:round/>
                      <a:headEnd type="none" w="med" len="med"/>
                      <a:tailEnd type="none" w="med" len="med"/>
                    </a:lnB>
                    <a:solidFill>
                      <a:srgbClr val="E0E6FA"/>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Provider verification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New entrants, advisors</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Attacks the referral habit</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3B8C7"/>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State incentive tracker</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New entrants, states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Rules change, documents scattered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Pipeline signals: who is coming next</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Providers, recruiters</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1960"/>
                        </a:lnSpc>
                        <a:buNone/>
                      </a:pPr>
                      <a:r>
                        <a:rPr lang="en-US" sz="1400" dirty="0">
                          <a:solidFill>
                            <a:srgbClr val="13201A"/>
                          </a:solidFill>
                          <a:latin typeface="IBM Plex Sans" pitchFamily="34" charset="0"/>
                          <a:ea typeface="IBM Plex Sans" pitchFamily="34" charset="-122"/>
                          <a:cs typeface="IBM Plex Sans" pitchFamily="34" charset="-120"/>
                        </a:rPr>
                        <a:t>Revenue later, crowded market</a:t>
                      </a:r>
                      <a:endParaRPr lang="en-US" sz="1400" dirty="0">
                        <a:latin typeface="IBM Plex Sans" charset="0"/>
                        <a:ea typeface="IBM Plex Sans" charset="0"/>
                        <a:cs typeface="IBM Plex Sans" charset="0"/>
                      </a:endParaRPr>
                    </a:p>
                  </a:txBody>
                  <a:tcPr marL="62230" marR="62230" marT="62230" marB="62230">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5557574"/>
            <a:ext cx="981075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3201A"/>
                </a:solidFill>
                <a:latin typeface="IBM Plex Sans" pitchFamily="34" charset="0"/>
                <a:ea typeface="IBM Plex Sans" pitchFamily="34" charset="-122"/>
                <a:cs typeface="IBM Plex Sans" pitchFamily="34" charset="-120"/>
              </a:rPr>
              <a:t>Ranks 1 and 2 ship together. A city comparison is only trusted if every input shows its source.</a:t>
            </a:r>
            <a:endParaRPr lang="en-US" sz="16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Pipeline signals are already sold by OceanFrogs and AIM Research, so it ranks last.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540D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9810750" cy="1031214"/>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F"/>
                </a:solidFill>
                <a:latin typeface="Bricolage Grotesque" pitchFamily="34" charset="0"/>
                <a:ea typeface="Bricolage Grotesque" pitchFamily="34" charset="-122"/>
                <a:cs typeface="Bricolage Grotesque" pitchFamily="34" charset="-120"/>
              </a:rPr>
              <a:t>Start where the decision is made, and show the evidence</a:t>
            </a:r>
            <a:endParaRPr lang="en-US" sz="3600" dirty="0"/>
          </a:p>
        </p:txBody>
      </p:sp>
      <p:sp>
        <p:nvSpPr>
          <p:cNvPr id="3" name="Shape 1"/>
          <p:cNvSpPr/>
          <p:nvPr/>
        </p:nvSpPr>
        <p:spPr>
          <a:xfrm>
            <a:off x="815975" y="3916561"/>
            <a:ext cx="3380317" cy="1922264"/>
          </a:xfrm>
          <a:prstGeom prst="roundRect">
            <a:avLst>
              <a:gd name="adj" fmla="val 5120"/>
            </a:avLst>
          </a:prstGeom>
          <a:solidFill>
            <a:srgbClr val="1D35B8"/>
          </a:solidFill>
          <a:ln w="6350">
            <a:solidFill>
              <a:srgbClr val="5A72F0"/>
            </a:solidFill>
            <a:prstDash val="solid"/>
          </a:ln>
        </p:spPr>
      </p:sp>
      <p:sp>
        <p:nvSpPr>
          <p:cNvPr id="4" name="Text 2"/>
          <p:cNvSpPr/>
          <p:nvPr/>
        </p:nvSpPr>
        <p:spPr>
          <a:xfrm>
            <a:off x="1071033" y="4171621"/>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FF"/>
                </a:solidFill>
                <a:latin typeface="IBM Plex Mono" pitchFamily="49" charset="0"/>
                <a:ea typeface="IBM Plex Mono" pitchFamily="49" charset="-122"/>
                <a:cs typeface="IBM Plex Mono" pitchFamily="49" charset="-120"/>
              </a:rPr>
              <a:t>Stakes</a:t>
            </a:r>
            <a:endParaRPr lang="en-US" sz="1200" dirty="0"/>
          </a:p>
        </p:txBody>
      </p:sp>
      <p:sp>
        <p:nvSpPr>
          <p:cNvPr id="5" name="Text 3"/>
          <p:cNvSpPr/>
          <p:nvPr/>
        </p:nvSpPr>
        <p:spPr>
          <a:xfrm>
            <a:off x="1071033" y="4486542"/>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6FF"/>
                </a:solidFill>
                <a:latin typeface="IBM Plex Sans" pitchFamily="34" charset="0"/>
                <a:ea typeface="IBM Plex Sans" pitchFamily="34" charset="-122"/>
                <a:cs typeface="IBM Plex Sans" pitchFamily="34" charset="-120"/>
              </a:rPr>
              <a:t>Choosing a city and provider is the one-time, high-cost moment in a GCC’s life.</a:t>
            </a:r>
            <a:endParaRPr lang="en-US" sz="1600" dirty="0"/>
          </a:p>
        </p:txBody>
      </p:sp>
      <p:sp>
        <p:nvSpPr>
          <p:cNvPr id="6" name="Shape 4"/>
          <p:cNvSpPr/>
          <p:nvPr/>
        </p:nvSpPr>
        <p:spPr>
          <a:xfrm>
            <a:off x="4405842" y="3916561"/>
            <a:ext cx="3380317" cy="1922264"/>
          </a:xfrm>
          <a:prstGeom prst="roundRect">
            <a:avLst>
              <a:gd name="adj" fmla="val 5120"/>
            </a:avLst>
          </a:prstGeom>
          <a:solidFill>
            <a:srgbClr val="1D35B8"/>
          </a:solidFill>
          <a:ln w="6350">
            <a:solidFill>
              <a:srgbClr val="5A72F0"/>
            </a:solidFill>
            <a:prstDash val="solid"/>
          </a:ln>
        </p:spPr>
      </p:sp>
      <p:sp>
        <p:nvSpPr>
          <p:cNvPr id="7" name="Text 5"/>
          <p:cNvSpPr/>
          <p:nvPr/>
        </p:nvSpPr>
        <p:spPr>
          <a:xfrm>
            <a:off x="4660900" y="4171621"/>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FF"/>
                </a:solidFill>
                <a:latin typeface="IBM Plex Mono" pitchFamily="49" charset="0"/>
                <a:ea typeface="IBM Plex Mono" pitchFamily="49" charset="-122"/>
                <a:cs typeface="IBM Plex Mono" pitchFamily="49" charset="-120"/>
              </a:rPr>
              <a:t>Data</a:t>
            </a:r>
            <a:endParaRPr lang="en-US" sz="1200" dirty="0"/>
          </a:p>
        </p:txBody>
      </p:sp>
      <p:sp>
        <p:nvSpPr>
          <p:cNvPr id="8" name="Text 6"/>
          <p:cNvSpPr/>
          <p:nvPr/>
        </p:nvSpPr>
        <p:spPr>
          <a:xfrm>
            <a:off x="4660900" y="4486542"/>
            <a:ext cx="2956306" cy="8483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6FF"/>
                </a:solidFill>
                <a:latin typeface="IBM Plex Sans" pitchFamily="34" charset="0"/>
                <a:ea typeface="IBM Plex Sans" pitchFamily="34" charset="-122"/>
                <a:cs typeface="IBM Plex Sans" pitchFamily="34" charset="-120"/>
              </a:rPr>
              <a:t>The facts exist but conflict, so a neutral reconciler adds value without new research.</a:t>
            </a:r>
            <a:endParaRPr lang="en-US" sz="1600" dirty="0"/>
          </a:p>
        </p:txBody>
      </p:sp>
      <p:sp>
        <p:nvSpPr>
          <p:cNvPr id="9" name="Shape 7"/>
          <p:cNvSpPr/>
          <p:nvPr/>
        </p:nvSpPr>
        <p:spPr>
          <a:xfrm>
            <a:off x="7995709" y="3916561"/>
            <a:ext cx="3380317" cy="1922264"/>
          </a:xfrm>
          <a:prstGeom prst="roundRect">
            <a:avLst>
              <a:gd name="adj" fmla="val 5120"/>
            </a:avLst>
          </a:prstGeom>
          <a:solidFill>
            <a:srgbClr val="1D35B8"/>
          </a:solidFill>
          <a:ln w="6350">
            <a:solidFill>
              <a:srgbClr val="5A72F0"/>
            </a:solidFill>
            <a:prstDash val="solid"/>
          </a:ln>
        </p:spPr>
      </p:sp>
      <p:sp>
        <p:nvSpPr>
          <p:cNvPr id="10" name="Text 8"/>
          <p:cNvSpPr/>
          <p:nvPr/>
        </p:nvSpPr>
        <p:spPr>
          <a:xfrm>
            <a:off x="8250767" y="4171621"/>
            <a:ext cx="2956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FF"/>
                </a:solidFill>
                <a:latin typeface="IBM Plex Mono" pitchFamily="49" charset="0"/>
                <a:ea typeface="IBM Plex Mono" pitchFamily="49" charset="-122"/>
                <a:cs typeface="IBM Plex Mono" pitchFamily="49" charset="-120"/>
              </a:rPr>
              <a:t>Trust</a:t>
            </a:r>
            <a:endParaRPr lang="en-US" sz="1200" dirty="0"/>
          </a:p>
        </p:txBody>
      </p:sp>
      <p:sp>
        <p:nvSpPr>
          <p:cNvPr id="11" name="Text 9"/>
          <p:cNvSpPr/>
          <p:nvPr/>
        </p:nvSpPr>
        <p:spPr>
          <a:xfrm>
            <a:off x="8250767" y="4486542"/>
            <a:ext cx="2956306" cy="112262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6FF"/>
                </a:solidFill>
                <a:latin typeface="IBM Plex Sans" pitchFamily="34" charset="0"/>
                <a:ea typeface="IBM Plex Sans" pitchFamily="34" charset="-122"/>
                <a:cs typeface="IBM Plex Sans" pitchFamily="34" charset="-120"/>
              </a:rPr>
              <a:t>Providers and brokers are paid by the outcome, so they cannot be the neutral source. Atlas can.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GCC Atlas: one place to decide where to set up</a:t>
            </a:r>
            <a:endParaRPr lang="en-US" sz="3600" dirty="0"/>
          </a:p>
        </p:txBody>
      </p:sp>
      <p:sp>
        <p:nvSpPr>
          <p:cNvPr id="3" name="Text 1"/>
          <p:cNvSpPr/>
          <p:nvPr/>
        </p:nvSpPr>
        <p:spPr>
          <a:xfrm>
            <a:off x="812800" y="1417309"/>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850"/>
                </a:solidFill>
                <a:latin typeface="IBM Plex Sans" pitchFamily="34" charset="0"/>
                <a:ea typeface="IBM Plex Sans" pitchFamily="34" charset="-122"/>
                <a:cs typeface="IBM Plex Sans" pitchFamily="34" charset="-120"/>
              </a:rPr>
              <a:t>First user: a company deciding where in India to set up a GCC.</a:t>
            </a:r>
            <a:endParaRPr lang="en-US" sz="1600" dirty="0"/>
          </a:p>
        </p:txBody>
      </p:sp>
      <p:sp>
        <p:nvSpPr>
          <p:cNvPr id="4" name="Shape 2"/>
          <p:cNvSpPr/>
          <p:nvPr/>
        </p:nvSpPr>
        <p:spPr>
          <a:xfrm>
            <a:off x="815975" y="2998788"/>
            <a:ext cx="5200650" cy="1340644"/>
          </a:xfrm>
          <a:prstGeom prst="roundRect">
            <a:avLst>
              <a:gd name="adj" fmla="val 7342"/>
            </a:avLst>
          </a:prstGeom>
          <a:solidFill>
            <a:srgbClr val="FBFCFA"/>
          </a:solidFill>
          <a:ln w="6350">
            <a:solidFill>
              <a:srgbClr val="D3DAD2"/>
            </a:solidFill>
            <a:prstDash val="solid"/>
          </a:ln>
        </p:spPr>
        <p:txBody>
          <a:bodyPr/>
          <a:lstStyle/>
          <a:p>
            <a:endParaRPr/>
          </a:p>
        </p:txBody>
      </p:sp>
      <p:sp>
        <p:nvSpPr>
          <p:cNvPr id="5" name="Text 3"/>
          <p:cNvSpPr/>
          <p:nvPr/>
        </p:nvSpPr>
        <p:spPr>
          <a:xfrm>
            <a:off x="1020233" y="3203048"/>
            <a:ext cx="493589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3201A"/>
                </a:solidFill>
                <a:latin typeface="Bricolage Grotesque" pitchFamily="34" charset="0"/>
                <a:ea typeface="Bricolage Grotesque" pitchFamily="34" charset="-122"/>
                <a:cs typeface="Bricolage Grotesque" pitchFamily="34" charset="-120"/>
              </a:rPr>
              <a:t>Conflict ledger</a:t>
            </a:r>
            <a:endParaRPr lang="en-US" sz="2200" dirty="0"/>
          </a:p>
        </p:txBody>
      </p:sp>
      <p:sp>
        <p:nvSpPr>
          <p:cNvPr id="6" name="Text 4"/>
          <p:cNvSpPr/>
          <p:nvPr/>
        </p:nvSpPr>
        <p:spPr>
          <a:xfrm>
            <a:off x="1020233" y="3586559"/>
            <a:ext cx="4935897" cy="57401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Every figure beside the reports that disagree, with the likely reason.</a:t>
            </a:r>
            <a:endParaRPr lang="en-US" sz="1600" dirty="0"/>
          </a:p>
        </p:txBody>
      </p:sp>
      <p:sp>
        <p:nvSpPr>
          <p:cNvPr id="7" name="Shape 5"/>
          <p:cNvSpPr/>
          <p:nvPr/>
        </p:nvSpPr>
        <p:spPr>
          <a:xfrm>
            <a:off x="6175375" y="2998788"/>
            <a:ext cx="5200650" cy="1340644"/>
          </a:xfrm>
          <a:prstGeom prst="roundRect">
            <a:avLst>
              <a:gd name="adj" fmla="val 7342"/>
            </a:avLst>
          </a:prstGeom>
          <a:solidFill>
            <a:srgbClr val="FBFCFA"/>
          </a:solidFill>
          <a:ln w="6350">
            <a:solidFill>
              <a:srgbClr val="D3DAD2"/>
            </a:solidFill>
            <a:prstDash val="solid"/>
          </a:ln>
        </p:spPr>
        <p:txBody>
          <a:bodyPr/>
          <a:lstStyle/>
          <a:p>
            <a:endParaRPr/>
          </a:p>
        </p:txBody>
      </p:sp>
      <p:sp>
        <p:nvSpPr>
          <p:cNvPr id="8" name="Text 6"/>
          <p:cNvSpPr/>
          <p:nvPr/>
        </p:nvSpPr>
        <p:spPr>
          <a:xfrm>
            <a:off x="6379633" y="3203048"/>
            <a:ext cx="493589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3201A"/>
                </a:solidFill>
                <a:latin typeface="Bricolage Grotesque" pitchFamily="34" charset="0"/>
                <a:ea typeface="Bricolage Grotesque" pitchFamily="34" charset="-122"/>
                <a:cs typeface="Bricolage Grotesque" pitchFamily="34" charset="-120"/>
              </a:rPr>
              <a:t>City compare</a:t>
            </a:r>
            <a:endParaRPr lang="en-US" sz="2200" dirty="0"/>
          </a:p>
        </p:txBody>
      </p:sp>
      <p:sp>
        <p:nvSpPr>
          <p:cNvPr id="9" name="Text 7"/>
          <p:cNvSpPr/>
          <p:nvPr/>
        </p:nvSpPr>
        <p:spPr>
          <a:xfrm>
            <a:off x="6379633" y="3586559"/>
            <a:ext cx="4935897" cy="57401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Payroll for six metros at your team size, plus the pan-India leasing average.</a:t>
            </a:r>
            <a:endParaRPr lang="en-US" sz="1600" dirty="0"/>
          </a:p>
        </p:txBody>
      </p:sp>
      <p:sp>
        <p:nvSpPr>
          <p:cNvPr id="10" name="Shape 8"/>
          <p:cNvSpPr/>
          <p:nvPr/>
        </p:nvSpPr>
        <p:spPr>
          <a:xfrm>
            <a:off x="815975" y="4498181"/>
            <a:ext cx="5200650" cy="1340644"/>
          </a:xfrm>
          <a:prstGeom prst="roundRect">
            <a:avLst>
              <a:gd name="adj" fmla="val 7342"/>
            </a:avLst>
          </a:prstGeom>
          <a:solidFill>
            <a:srgbClr val="FBFCFA"/>
          </a:solidFill>
          <a:ln w="6350">
            <a:solidFill>
              <a:srgbClr val="D3DAD2"/>
            </a:solidFill>
            <a:prstDash val="solid"/>
          </a:ln>
        </p:spPr>
        <p:txBody>
          <a:bodyPr/>
          <a:lstStyle/>
          <a:p>
            <a:endParaRPr/>
          </a:p>
        </p:txBody>
      </p:sp>
      <p:sp>
        <p:nvSpPr>
          <p:cNvPr id="11" name="Text 9"/>
          <p:cNvSpPr/>
          <p:nvPr/>
        </p:nvSpPr>
        <p:spPr>
          <a:xfrm>
            <a:off x="1020233" y="4702442"/>
            <a:ext cx="493589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3201A"/>
                </a:solidFill>
                <a:latin typeface="Bricolage Grotesque" pitchFamily="34" charset="0"/>
                <a:ea typeface="Bricolage Grotesque" pitchFamily="34" charset="-122"/>
                <a:cs typeface="Bricolage Grotesque" pitchFamily="34" charset="-120"/>
              </a:rPr>
              <a:t>State policies</a:t>
            </a:r>
            <a:endParaRPr lang="en-US" sz="2200" dirty="0"/>
          </a:p>
        </p:txBody>
      </p:sp>
      <p:sp>
        <p:nvSpPr>
          <p:cNvPr id="12" name="Text 10"/>
          <p:cNvSpPr/>
          <p:nvPr/>
        </p:nvSpPr>
        <p:spPr>
          <a:xfrm>
            <a:off x="1020233" y="5085953"/>
            <a:ext cx="4935897" cy="57401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Twelve states, each marked official source, reported only, or draft.</a:t>
            </a:r>
            <a:endParaRPr lang="en-US" sz="1600" dirty="0"/>
          </a:p>
        </p:txBody>
      </p:sp>
      <p:sp>
        <p:nvSpPr>
          <p:cNvPr id="13" name="Shape 11"/>
          <p:cNvSpPr/>
          <p:nvPr/>
        </p:nvSpPr>
        <p:spPr>
          <a:xfrm>
            <a:off x="6175375" y="4498181"/>
            <a:ext cx="5200650" cy="1340644"/>
          </a:xfrm>
          <a:prstGeom prst="roundRect">
            <a:avLst>
              <a:gd name="adj" fmla="val 7342"/>
            </a:avLst>
          </a:prstGeom>
          <a:solidFill>
            <a:srgbClr val="FBFCFA"/>
          </a:solidFill>
          <a:ln w="6350">
            <a:solidFill>
              <a:srgbClr val="D3DAD2"/>
            </a:solidFill>
            <a:prstDash val="solid"/>
          </a:ln>
        </p:spPr>
        <p:txBody>
          <a:bodyPr/>
          <a:lstStyle/>
          <a:p>
            <a:endParaRPr/>
          </a:p>
        </p:txBody>
      </p:sp>
      <p:sp>
        <p:nvSpPr>
          <p:cNvPr id="14" name="Text 12"/>
          <p:cNvSpPr/>
          <p:nvPr/>
        </p:nvSpPr>
        <p:spPr>
          <a:xfrm>
            <a:off x="6379633" y="4702442"/>
            <a:ext cx="493589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3201A"/>
                </a:solidFill>
                <a:latin typeface="Bricolage Grotesque" pitchFamily="34" charset="0"/>
                <a:ea typeface="Bricolage Grotesque" pitchFamily="34" charset="-122"/>
                <a:cs typeface="Bricolage Grotesque" pitchFamily="34" charset="-120"/>
              </a:rPr>
              <a:t>Ask Atlas</a:t>
            </a:r>
            <a:endParaRPr lang="en-US" sz="2200" dirty="0"/>
          </a:p>
        </p:txBody>
      </p:sp>
      <p:sp>
        <p:nvSpPr>
          <p:cNvPr id="15" name="Text 13"/>
          <p:cNvSpPr/>
          <p:nvPr/>
        </p:nvSpPr>
        <p:spPr>
          <a:xfrm>
            <a:off x="6379633" y="5085953"/>
            <a:ext cx="4935897" cy="57401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3201A"/>
                </a:solidFill>
                <a:latin typeface="IBM Plex Sans" pitchFamily="34" charset="0"/>
                <a:ea typeface="IBM Plex Sans" pitchFamily="34" charset="-122"/>
                <a:cs typeface="IBM Plex Sans" pitchFamily="34" charset="-120"/>
              </a:rPr>
              <a:t>Answers only from the verified data, with sources, or says it has none.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A working prototype on sourced data only</a:t>
            </a:r>
            <a:endParaRPr lang="en-US" sz="3600" dirty="0"/>
          </a:p>
        </p:txBody>
      </p:sp>
      <p:sp>
        <p:nvSpPr>
          <p:cNvPr id="3" name="Text 1"/>
          <p:cNvSpPr/>
          <p:nvPr/>
        </p:nvSpPr>
        <p:spPr>
          <a:xfrm>
            <a:off x="870458" y="2479080"/>
            <a:ext cx="9745472" cy="1244600"/>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13201A"/>
                </a:solidFill>
                <a:latin typeface="IBM Plex Sans" pitchFamily="34" charset="0"/>
                <a:ea typeface="IBM Plex Sans" pitchFamily="34" charset="-122"/>
                <a:cs typeface="IBM Plex Sans" pitchFamily="34" charset="-120"/>
              </a:rPr>
              <a:t>Seven metrics, each with every source, the gap and the likely reason</a:t>
            </a:r>
            <a:endParaRPr lang="en-US" sz="1600" dirty="0"/>
          </a:p>
          <a:p>
            <a:pPr marL="196342" indent="-196342" algn="l">
              <a:lnSpc>
                <a:spcPts val="2400"/>
              </a:lnSpc>
              <a:buSzPct val="100000"/>
              <a:buChar char="•"/>
            </a:pPr>
            <a:r>
              <a:rPr lang="en-US" sz="1600" dirty="0">
                <a:solidFill>
                  <a:srgbClr val="13201A"/>
                </a:solidFill>
                <a:latin typeface="IBM Plex Sans" pitchFamily="34" charset="0"/>
                <a:ea typeface="IBM Plex Sans" pitchFamily="34" charset="-122"/>
                <a:cs typeface="IBM Plex Sans" pitchFamily="34" charset="-120"/>
              </a:rPr>
              <a:t>Six-city payroll comparison at any team size</a:t>
            </a:r>
            <a:endParaRPr lang="en-US" sz="1600" dirty="0"/>
          </a:p>
          <a:p>
            <a:pPr marL="196342" indent="-196342" algn="l">
              <a:lnSpc>
                <a:spcPts val="2400"/>
              </a:lnSpc>
              <a:buSzPct val="100000"/>
              <a:buChar char="•"/>
            </a:pPr>
            <a:r>
              <a:rPr lang="en-US" sz="1600" dirty="0">
                <a:solidFill>
                  <a:srgbClr val="13201A"/>
                </a:solidFill>
                <a:latin typeface="IBM Plex Sans" pitchFamily="34" charset="0"/>
                <a:ea typeface="IBM Plex Sans" pitchFamily="34" charset="-122"/>
                <a:cs typeface="IBM Plex Sans" pitchFamily="34" charset="-120"/>
              </a:rPr>
              <a:t>Twelve state policies, tagged official, reported only or draft</a:t>
            </a:r>
            <a:endParaRPr lang="en-US" sz="1600" dirty="0"/>
          </a:p>
          <a:p>
            <a:pPr marL="196342" indent="-196342" algn="l">
              <a:lnSpc>
                <a:spcPts val="2400"/>
              </a:lnSpc>
              <a:buSzPct val="100000"/>
              <a:buChar char="•"/>
            </a:pPr>
            <a:r>
              <a:rPr lang="en-US" sz="1600" dirty="0">
                <a:solidFill>
                  <a:srgbClr val="13201A"/>
                </a:solidFill>
                <a:latin typeface="IBM Plex Sans" pitchFamily="34" charset="0"/>
                <a:ea typeface="IBM Plex Sans" pitchFamily="34" charset="-122"/>
                <a:cs typeface="IBM Plex Sans" pitchFamily="34" charset="-120"/>
              </a:rPr>
              <a:t>An assistant that answers from the data, or says it has none</a:t>
            </a:r>
            <a:endParaRPr lang="en-US" sz="1600" dirty="0"/>
          </a:p>
        </p:txBody>
      </p:sp>
      <p:sp>
        <p:nvSpPr>
          <p:cNvPr id="4" name="Shape 2"/>
          <p:cNvSpPr/>
          <p:nvPr/>
        </p:nvSpPr>
        <p:spPr>
          <a:xfrm>
            <a:off x="812800" y="4861657"/>
            <a:ext cx="6985000" cy="980347"/>
          </a:xfrm>
          <a:prstGeom prst="roundRect">
            <a:avLst>
              <a:gd name="adj" fmla="val 10364"/>
            </a:avLst>
          </a:prstGeom>
          <a:solidFill>
            <a:srgbClr val="13201A"/>
          </a:solidFill>
          <a:ln/>
        </p:spPr>
        <p:txBody>
          <a:bodyPr/>
          <a:lstStyle/>
          <a:p>
            <a:endParaRPr/>
          </a:p>
        </p:txBody>
      </p:sp>
      <p:sp>
        <p:nvSpPr>
          <p:cNvPr id="5" name="Text 3"/>
          <p:cNvSpPr/>
          <p:nvPr/>
        </p:nvSpPr>
        <p:spPr>
          <a:xfrm>
            <a:off x="1066800" y="5064857"/>
            <a:ext cx="66713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3A6FF"/>
                </a:solidFill>
                <a:latin typeface="IBM Plex Mono" pitchFamily="49" charset="0"/>
                <a:ea typeface="IBM Plex Mono" pitchFamily="49" charset="-122"/>
                <a:cs typeface="IBM Plex Mono" pitchFamily="49" charset="-120"/>
              </a:rPr>
              <a:t>Try it</a:t>
            </a:r>
            <a:endParaRPr lang="en-US" sz="1200" dirty="0"/>
          </a:p>
        </p:txBody>
      </p:sp>
      <p:sp>
        <p:nvSpPr>
          <p:cNvPr id="6" name="Text 4"/>
          <p:cNvSpPr/>
          <p:nvPr/>
        </p:nvSpPr>
        <p:spPr>
          <a:xfrm>
            <a:off x="1066800" y="5354377"/>
            <a:ext cx="6671310" cy="309827"/>
          </a:xfrm>
          <a:prstGeom prst="rect">
            <a:avLst/>
          </a:prstGeom>
          <a:noFill/>
          <a:ln/>
        </p:spPr>
        <p:txBody>
          <a:bodyPr wrap="square" lIns="0" tIns="0" rIns="0" bIns="0" rtlCol="0" anchor="t">
            <a:normAutofit/>
          </a:bodyPr>
          <a:lstStyle/>
          <a:p>
            <a:pPr marL="0" indent="0" algn="l">
              <a:lnSpc>
                <a:spcPts val="2240"/>
              </a:lnSpc>
              <a:buNone/>
            </a:pPr>
            <a:r>
              <a:rPr lang="en-US" sz="1600" u="sng" dirty="0">
                <a:solidFill>
                  <a:srgbClr val="EFF2EE"/>
                </a:solidFill>
                <a:latin typeface="IBM Plex Sans" pitchFamily="34" charset="0"/>
                <a:ea typeface="IBM Plex Sans" pitchFamily="34" charset="-122"/>
                <a:cs typeface="IBM Plex Sans" pitchFamily="34" charset="-120"/>
                <a:hlinkClick r:id="rId3">
                  <a:extLst>
                    <a:ext uri="{A12FA001-AC4F-418D-AE19-62706E023703}">
                      <ahyp:hlinkClr xmlns:ahyp="http://schemas.microsoft.com/office/drawing/2018/hyperlinkcolor" val="tx"/>
                    </a:ext>
                  </a:extLst>
                </a:hlinkClick>
              </a:rPr>
              <a:t>https://claude.ai/artifact/8e1CoRTDYhyxKcxf1sbveB</a:t>
            </a:r>
            <a:endParaRPr lang="en-US" sz="16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Missing data shows as “not available”. Nothing is filled with a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Why each group would come to Atlas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204777"/>
          <a:ext cx="10553700" cy="2476500"/>
        </p:xfrm>
        <a:graphic>
          <a:graphicData uri="http://schemas.openxmlformats.org/drawingml/2006/table">
            <a:tbl>
              <a:tblPr/>
              <a:tblGrid>
                <a:gridCol w="2532888">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Stakeholder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Comes to Atlas for</a:t>
                      </a:r>
                      <a:endParaRPr lang="en-US" sz="1500" dirty="0">
                        <a:latin typeface="IBM Plex Sans" charset="0"/>
                        <a:ea typeface="IBM Plex Sans" charset="0"/>
                        <a:cs typeface="IBM Plex Sans" charset="0"/>
                      </a:endParaRPr>
                    </a:p>
                  </a:txBody>
                  <a:tcPr marL="66675" marR="66675" marT="66675" marB="66675">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tc>
                  <a:txBody>
                    <a:bodyPr/>
                    <a:lstStyle/>
                    <a:p>
                      <a:pPr marL="0" indent="0">
                        <a:lnSpc>
                          <a:spcPts val="2100"/>
                        </a:lnSpc>
                        <a:buNone/>
                      </a:pPr>
                      <a:r>
                        <a:rPr lang="en-US" sz="1500" b="1" dirty="0">
                          <a:solidFill>
                            <a:srgbClr val="13201A"/>
                          </a:solidFill>
                          <a:latin typeface="IBM Plex Sans" pitchFamily="34" charset="0"/>
                          <a:ea typeface="IBM Plex Sans" pitchFamily="34" charset="-122"/>
                          <a:cs typeface="IBM Plex Sans" pitchFamily="34" charset="-120"/>
                        </a:rPr>
                        <a:t>Instead of</a:t>
                      </a:r>
                      <a:endParaRPr lang="en-US" sz="1500" dirty="0">
                        <a:latin typeface="IBM Plex Sans" charset="0"/>
                        <a:ea typeface="IBM Plex Sans" charset="0"/>
                        <a:cs typeface="IBM Plex Sans" charset="0"/>
                      </a:endParaRPr>
                    </a:p>
                  </a:txBody>
                  <a:tcPr marL="66675" marR="66675" marT="66675" marB="66675">
                    <a:lnL w="12700" cap="flat" cmpd="sng" algn="ctr">
                      <a:solidFill>
                        <a:srgbClr val="B1B3B0"/>
                      </a:solidFill>
                      <a:prstDash val="solid"/>
                      <a:round/>
                      <a:headEnd type="none" w="med" len="med"/>
                      <a:tailEnd type="none" w="med" len="med"/>
                    </a:lnL>
                    <a:lnR w="12700" cap="flat" cmpd="sng" algn="ctr">
                      <a:solidFill>
                        <a:srgbClr val="B1B3B0"/>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1B3B0"/>
                      </a:solidFill>
                      <a:prstDash val="solid"/>
                      <a:round/>
                      <a:headEnd type="none" w="med" len="med"/>
                      <a:tailEnd type="none" w="med" len="med"/>
                    </a:lnB>
                    <a:solidFill>
                      <a:srgbClr val="DDE0DC"/>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New entrants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A neutral view of cities, costs, rules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Referrals and paid advisors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1B3B0"/>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Setup providers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A verified record to point to (next)</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Self-published rankings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Real estate firms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Qualified leads from city comparisons (later)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Competing own reports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Recruiters and EOR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Early signal of who is hiring (later)</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Press releases, LinkedIn</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State governments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Side-by-side policy visibility</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tc>
                  <a:txBody>
                    <a:bodyPr/>
                    <a:lstStyle/>
                    <a:p>
                      <a:pPr marL="0" indent="0">
                        <a:lnSpc>
                          <a:spcPts val="2100"/>
                        </a:lnSpc>
                        <a:buNone/>
                      </a:pPr>
                      <a:r>
                        <a:rPr lang="en-US" sz="1500" dirty="0">
                          <a:solidFill>
                            <a:srgbClr val="13201A"/>
                          </a:solidFill>
                          <a:latin typeface="IBM Plex Sans" pitchFamily="34" charset="0"/>
                          <a:ea typeface="IBM Plex Sans" pitchFamily="34" charset="-122"/>
                          <a:cs typeface="IBM Plex Sans" pitchFamily="34" charset="-120"/>
                        </a:rPr>
                        <a:t>Roadshows and conclaves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FC1BE"/>
                      </a:solidFill>
                      <a:prstDash val="solid"/>
                      <a:round/>
                      <a:headEnd type="none" w="med" len="med"/>
                      <a:tailEnd type="none" w="med" len="med"/>
                    </a:lnL>
                    <a:lnR w="12700" cap="flat" cmpd="sng" algn="ctr">
                      <a:solidFill>
                        <a:srgbClr val="BFC1BE"/>
                      </a:solidFill>
                      <a:prstDash val="solid"/>
                      <a:round/>
                      <a:headEnd type="none" w="med" len="med"/>
                      <a:tailEnd type="none" w="med" len="med"/>
                    </a:lnR>
                    <a:lnT w="12700" cap="flat" cmpd="sng" algn="ctr">
                      <a:solidFill>
                        <a:srgbClr val="BFC1BE"/>
                      </a:solidFill>
                      <a:prstDash val="solid"/>
                      <a:round/>
                      <a:headEnd type="none" w="med" len="med"/>
                      <a:tailEnd type="none" w="med" len="med"/>
                    </a:lnT>
                    <a:lnB w="12700" cap="flat" cmpd="sng" algn="ctr">
                      <a:solidFill>
                        <a:srgbClr val="BFC1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5557577"/>
            <a:ext cx="981075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3201A"/>
                </a:solidFill>
                <a:latin typeface="IBM Plex Sans" pitchFamily="34" charset="0"/>
                <a:ea typeface="IBM Plex Sans" pitchFamily="34" charset="-122"/>
                <a:cs typeface="IBM Plex Sans" pitchFamily="34" charset="-120"/>
              </a:rPr>
              <a:t>Position:</a:t>
            </a:r>
            <a:r>
              <a:rPr lang="en-US" sz="1600" dirty="0">
                <a:solidFill>
                  <a:srgbClr val="13201A"/>
                </a:solidFill>
                <a:latin typeface="IBM Plex Sans" pitchFamily="34" charset="0"/>
                <a:ea typeface="IBM Plex Sans" pitchFamily="34" charset="-122"/>
                <a:cs typeface="IBM Plex Sans" pitchFamily="34" charset="-120"/>
              </a:rPr>
              <a:t> the neutral reference that shows its sources, unlike paid advice and self-ranked lists.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01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FF2EE"/>
                </a:solidFill>
                <a:latin typeface="Bricolage Grotesque" pitchFamily="34" charset="0"/>
                <a:ea typeface="Bricolage Grotesque" pitchFamily="34" charset="-122"/>
                <a:cs typeface="Bricolage Grotesque" pitchFamily="34" charset="-120"/>
              </a:rPr>
              <a:t>Builds on what Flexiple already has</a:t>
            </a:r>
            <a:endParaRPr lang="en-US" sz="3600" dirty="0"/>
          </a:p>
        </p:txBody>
      </p:sp>
      <p:sp>
        <p:nvSpPr>
          <p:cNvPr id="3" name="Shape 1"/>
          <p:cNvSpPr/>
          <p:nvPr/>
        </p:nvSpPr>
        <p:spPr>
          <a:xfrm>
            <a:off x="815975" y="2266094"/>
            <a:ext cx="5175250" cy="2056739"/>
          </a:xfrm>
          <a:prstGeom prst="roundRect">
            <a:avLst>
              <a:gd name="adj" fmla="val 4785"/>
            </a:avLst>
          </a:prstGeom>
          <a:solidFill>
            <a:srgbClr val="1D2D25"/>
          </a:solidFill>
          <a:ln w="6350">
            <a:solidFill>
              <a:srgbClr val="33463B"/>
            </a:solidFill>
            <a:prstDash val="solid"/>
          </a:ln>
        </p:spPr>
      </p:sp>
      <p:sp>
        <p:nvSpPr>
          <p:cNvPr id="4" name="Text 2"/>
          <p:cNvSpPr/>
          <p:nvPr/>
        </p:nvSpPr>
        <p:spPr>
          <a:xfrm>
            <a:off x="1071033" y="2521148"/>
            <a:ext cx="480508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A2B2A8"/>
                </a:solidFill>
                <a:latin typeface="Bricolage Grotesque" pitchFamily="34" charset="0"/>
                <a:ea typeface="Bricolage Grotesque" pitchFamily="34" charset="-122"/>
                <a:cs typeface="Bricolage Grotesque" pitchFamily="34" charset="-120"/>
              </a:rPr>
              <a:t>On flexiple.com/gcc today</a:t>
            </a:r>
            <a:endParaRPr lang="en-US" sz="2200" dirty="0"/>
          </a:p>
        </p:txBody>
      </p:sp>
      <p:sp>
        <p:nvSpPr>
          <p:cNvPr id="5" name="Text 3"/>
          <p:cNvSpPr/>
          <p:nvPr/>
        </p:nvSpPr>
        <p:spPr>
          <a:xfrm>
            <a:off x="1128691" y="2930066"/>
            <a:ext cx="4739809" cy="1163108"/>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536 verified GCCs in a directory</a:t>
            </a:r>
            <a:endParaRPr lang="en-US" sz="1600" dirty="0"/>
          </a:p>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City pages with measured salary medians</a:t>
            </a:r>
            <a:endParaRPr lang="en-US" sz="1600" dirty="0"/>
          </a:p>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A statistics page that lists what it could not verify</a:t>
            </a:r>
            <a:endParaRPr lang="en-US" sz="1600" dirty="0"/>
          </a:p>
        </p:txBody>
      </p:sp>
      <p:sp>
        <p:nvSpPr>
          <p:cNvPr id="6" name="Shape 4"/>
          <p:cNvSpPr/>
          <p:nvPr/>
        </p:nvSpPr>
        <p:spPr>
          <a:xfrm>
            <a:off x="6200775" y="2266094"/>
            <a:ext cx="5175250" cy="2056739"/>
          </a:xfrm>
          <a:prstGeom prst="roundRect">
            <a:avLst>
              <a:gd name="adj" fmla="val 4785"/>
            </a:avLst>
          </a:prstGeom>
          <a:solidFill>
            <a:srgbClr val="1D2D25"/>
          </a:solidFill>
          <a:ln w="6350">
            <a:solidFill>
              <a:srgbClr val="93A6FF"/>
            </a:solidFill>
            <a:prstDash val="solid"/>
          </a:ln>
        </p:spPr>
      </p:sp>
      <p:sp>
        <p:nvSpPr>
          <p:cNvPr id="7" name="Text 5"/>
          <p:cNvSpPr/>
          <p:nvPr/>
        </p:nvSpPr>
        <p:spPr>
          <a:xfrm>
            <a:off x="6455833" y="2521148"/>
            <a:ext cx="4805087" cy="332714"/>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93A6FF"/>
                </a:solidFill>
                <a:latin typeface="Bricolage Grotesque" pitchFamily="34" charset="0"/>
                <a:ea typeface="Bricolage Grotesque" pitchFamily="34" charset="-122"/>
                <a:cs typeface="Bricolage Grotesque" pitchFamily="34" charset="-120"/>
              </a:rPr>
              <a:t>What Atlas adds</a:t>
            </a:r>
            <a:endParaRPr lang="en-US" sz="2200" dirty="0"/>
          </a:p>
        </p:txBody>
      </p:sp>
      <p:sp>
        <p:nvSpPr>
          <p:cNvPr id="8" name="Text 6"/>
          <p:cNvSpPr/>
          <p:nvPr/>
        </p:nvSpPr>
        <p:spPr>
          <a:xfrm>
            <a:off x="6513491" y="2930066"/>
            <a:ext cx="4739809" cy="1163108"/>
          </a:xfrm>
          <a:prstGeom prst="rect">
            <a:avLst/>
          </a:prstGeom>
          <a:noFill/>
          <a:ln/>
        </p:spPr>
        <p:txBody>
          <a:bodyPr wrap="square" lIns="0" tIns="0" rIns="0" bIns="0" rtlCol="0" anchor="t">
            <a:normAutofit/>
          </a:bodyPr>
          <a:lstStyle/>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A ledger of where consultant reports disagree</a:t>
            </a:r>
            <a:endParaRPr lang="en-US" sz="1600" dirty="0"/>
          </a:p>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City compare at your team size</a:t>
            </a:r>
            <a:endParaRPr lang="en-US" sz="1600" dirty="0"/>
          </a:p>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Policy status: official, reported, draft</a:t>
            </a:r>
            <a:endParaRPr lang="en-US" sz="1600" dirty="0"/>
          </a:p>
          <a:p>
            <a:pPr marL="196342" indent="-196342" algn="l">
              <a:lnSpc>
                <a:spcPts val="2240"/>
              </a:lnSpc>
              <a:buSzPct val="100000"/>
              <a:buChar char="•"/>
            </a:pPr>
            <a:r>
              <a:rPr lang="en-US" sz="1600" dirty="0">
                <a:solidFill>
                  <a:srgbClr val="EFF2EE"/>
                </a:solidFill>
                <a:latin typeface="IBM Plex Sans" pitchFamily="34" charset="0"/>
                <a:ea typeface="IBM Plex Sans" pitchFamily="34" charset="-122"/>
                <a:cs typeface="IBM Plex Sans" pitchFamily="34" charset="-120"/>
              </a:rPr>
              <a:t>Provider claims beside evidence, next</a:t>
            </a:r>
            <a:endParaRPr lang="en-US" sz="1600" dirty="0"/>
          </a:p>
        </p:txBody>
      </p:sp>
      <p:sp>
        <p:nvSpPr>
          <p:cNvPr id="9" name="Text 7"/>
          <p:cNvSpPr/>
          <p:nvPr/>
        </p:nvSpPr>
        <p:spPr>
          <a:xfrm>
            <a:off x="812800" y="5273148"/>
            <a:ext cx="98107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FF2EE"/>
                </a:solidFill>
                <a:latin typeface="IBM Plex Sans" pitchFamily="34" charset="0"/>
                <a:ea typeface="IBM Plex Sans" pitchFamily="34" charset="-122"/>
                <a:cs typeface="IBM Plex Sans" pitchFamily="34" charset="-120"/>
              </a:rPr>
              <a:t>Flexiple’s own list of unverified figures becomes the roadmap: city counts, tier-2 counts and state policy documents.</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2B2A8"/>
                </a:solidFill>
                <a:latin typeface="IBM Plex Mono" pitchFamily="49" charset="0"/>
                <a:ea typeface="IBM Plex Mono" pitchFamily="49" charset="-122"/>
                <a:cs typeface="IBM Plex Mono" pitchFamily="49" charset="-120"/>
              </a:rPr>
              <a:t>Source: flexiple.com/gcc/statistics, as of Aug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2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3201A"/>
                </a:solidFill>
                <a:latin typeface="Bricolage Grotesque" pitchFamily="34" charset="0"/>
                <a:ea typeface="Bricolage Grotesque" pitchFamily="34" charset="-122"/>
                <a:cs typeface="Bricolage Grotesque" pitchFamily="34" charset="-120"/>
              </a:rPr>
              <a:t>What the data cannot tell you yet</a:t>
            </a:r>
            <a:endParaRPr lang="en-US" sz="3600" dirty="0"/>
          </a:p>
        </p:txBody>
      </p:sp>
      <p:sp>
        <p:nvSpPr>
          <p:cNvPr id="3" name="Text 1"/>
          <p:cNvSpPr/>
          <p:nvPr/>
        </p:nvSpPr>
        <p:spPr>
          <a:xfrm>
            <a:off x="870458" y="2700139"/>
            <a:ext cx="10399522" cy="1498468"/>
          </a:xfrm>
          <a:prstGeom prst="rect">
            <a:avLst/>
          </a:prstGeom>
          <a:noFill/>
          <a:ln/>
        </p:spPr>
        <p:txBody>
          <a:bodyPr wrap="square" lIns="0" tIns="0" rIns="0" bIns="0" rtlCol="0" anchor="t">
            <a:normAutofit/>
          </a:bodyPr>
          <a:lstStyle/>
          <a:p>
            <a:pPr marL="196342" indent="-196342" algn="l">
              <a:lnSpc>
                <a:spcPts val="2320"/>
              </a:lnSpc>
              <a:buSzPct val="100000"/>
              <a:buChar char="•"/>
            </a:pPr>
            <a:r>
              <a:rPr lang="en-US" sz="1600" dirty="0">
                <a:solidFill>
                  <a:srgbClr val="13201A"/>
                </a:solidFill>
                <a:latin typeface="IBM Plex Sans" pitchFamily="34" charset="0"/>
                <a:ea typeface="IBM Plex Sans" pitchFamily="34" charset="-122"/>
                <a:cs typeface="IBM Plex Sans" pitchFamily="34" charset="-120"/>
              </a:rPr>
              <a:t>City rents: only the pan-India average, ₹96 per sq ft per month in H1 2026, is sourced.</a:t>
            </a:r>
            <a:endParaRPr lang="en-US" sz="1600" dirty="0"/>
          </a:p>
          <a:p>
            <a:pPr marL="196342" indent="-196342" algn="l">
              <a:lnSpc>
                <a:spcPts val="2320"/>
              </a:lnSpc>
              <a:buSzPct val="100000"/>
              <a:buChar char="•"/>
            </a:pPr>
            <a:r>
              <a:rPr lang="en-US" sz="1600" dirty="0">
                <a:solidFill>
                  <a:srgbClr val="13201A"/>
                </a:solidFill>
                <a:latin typeface="IBM Plex Sans" pitchFamily="34" charset="0"/>
                <a:ea typeface="IBM Plex Sans" pitchFamily="34" charset="-122"/>
                <a:cs typeface="IBM Plex Sans" pitchFamily="34" charset="-120"/>
              </a:rPr>
              <a:t>Salary medians are Flexiple’s tracked-market figures, not GCC-only pay.</a:t>
            </a:r>
            <a:endParaRPr lang="en-US" sz="1600" dirty="0"/>
          </a:p>
          <a:p>
            <a:pPr marL="196342" indent="-196342" algn="l">
              <a:lnSpc>
                <a:spcPts val="2320"/>
              </a:lnSpc>
              <a:buSzPct val="100000"/>
              <a:buChar char="•"/>
            </a:pPr>
            <a:r>
              <a:rPr lang="en-US" sz="1600" dirty="0">
                <a:solidFill>
                  <a:srgbClr val="13201A"/>
                </a:solidFill>
                <a:latin typeface="IBM Plex Sans" pitchFamily="34" charset="0"/>
                <a:ea typeface="IBM Plex Sans" pitchFamily="34" charset="-122"/>
                <a:cs typeface="IBM Plex Sans" pitchFamily="34" charset="-120"/>
              </a:rPr>
              <a:t>Seven states’ policies are reported by CBRE or press only, with no official document found.</a:t>
            </a:r>
            <a:endParaRPr lang="en-US" sz="1600" dirty="0"/>
          </a:p>
          <a:p>
            <a:pPr marL="196342" indent="-196342" algn="l">
              <a:lnSpc>
                <a:spcPts val="2320"/>
              </a:lnSpc>
              <a:buSzPct val="100000"/>
              <a:buChar char="•"/>
            </a:pPr>
            <a:r>
              <a:rPr lang="en-US" sz="1600" dirty="0">
                <a:solidFill>
                  <a:srgbClr val="13201A"/>
                </a:solidFill>
                <a:latin typeface="IBM Plex Sans" pitchFamily="34" charset="0"/>
                <a:ea typeface="IBM Plex Sans" pitchFamily="34" charset="-122"/>
                <a:cs typeface="IBM Plex Sans" pitchFamily="34" charset="-120"/>
              </a:rPr>
              <a:t>New-GCC examples come from vendor and LinkedIn posts and need checking.</a:t>
            </a:r>
            <a:endParaRPr lang="en-US" sz="1600" dirty="0"/>
          </a:p>
          <a:p>
            <a:pPr marL="196342" indent="-196342" algn="l">
              <a:lnSpc>
                <a:spcPts val="2320"/>
              </a:lnSpc>
              <a:buSzPct val="100000"/>
              <a:buChar char="•"/>
            </a:pPr>
            <a:r>
              <a:rPr lang="en-US" sz="1600" dirty="0">
                <a:solidFill>
                  <a:srgbClr val="13201A"/>
                </a:solidFill>
                <a:latin typeface="IBM Plex Sans" pitchFamily="34" charset="0"/>
                <a:ea typeface="IBM Plex Sans" pitchFamily="34" charset="-122"/>
                <a:cs typeface="IBM Plex Sans" pitchFamily="34" charset="-120"/>
              </a:rPr>
              <a:t>Budget 2026–27 safe-harbour rules were reported as proposed; check notification.</a:t>
            </a:r>
            <a:endParaRPr lang="en-US" sz="1600" dirty="0"/>
          </a:p>
        </p:txBody>
      </p:sp>
      <p:sp>
        <p:nvSpPr>
          <p:cNvPr id="4" name="Text 2"/>
          <p:cNvSpPr/>
          <p:nvPr/>
        </p:nvSpPr>
        <p:spPr>
          <a:xfrm>
            <a:off x="812800" y="5557577"/>
            <a:ext cx="9810750" cy="309827"/>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850"/>
                </a:solidFill>
                <a:latin typeface="IBM Plex Mono" pitchFamily="49" charset="0"/>
                <a:ea typeface="IBM Plex Mono" pitchFamily="49" charset="-122"/>
                <a:cs typeface="IBM Plex Mono" pitchFamily="49" charset="-120"/>
              </a:rPr>
              <a:t>.</a:t>
            </a:r>
            <a:endParaRPr lang="en-US" sz="1200" dirty="0"/>
          </a:p>
        </p:txBody>
      </p:sp>
    </p:spTree>
  </p:cSld>
  <p:clrMapOvr>
    <a:masterClrMapping/>
  </p:clrMapOvr>
</p:sld>
</file>

<file path=ppt/theme/theme1.xml><?xml version="1.0" encoding="utf-8"?>
<a:theme xmlns:a="http://schemas.openxmlformats.org/drawingml/2006/main" name="GCC Atlas Deck">
  <a:themeElements>
    <a:clrScheme name="GCC Atlas Deck">
      <a:dk1>
        <a:srgbClr val="13201A"/>
      </a:dk1>
      <a:lt1>
        <a:srgbClr val="EFF2EE"/>
      </a:lt1>
      <a:dk2>
        <a:srgbClr val="4A554F"/>
      </a:dk2>
      <a:lt2>
        <a:srgbClr val="D9DDD9"/>
      </a:lt2>
      <a:accent1>
        <a:srgbClr val="93A6FF"/>
      </a:accent1>
      <a:accent2>
        <a:srgbClr val="1D35B8"/>
      </a:accent2>
      <a:accent3>
        <a:srgbClr val="AE3A2D"/>
      </a:accent3>
      <a:accent4>
        <a:srgbClr val="C9D2FF"/>
      </a:accent4>
      <a:accent5>
        <a:srgbClr val="2540D9"/>
      </a:accent5>
      <a:accent6>
        <a:srgbClr val="4A5850"/>
      </a:accent6>
      <a:hlink>
        <a:srgbClr val="0563C1"/>
      </a:hlink>
      <a:folHlink>
        <a:srgbClr val="954F72"/>
      </a:folHlink>
    </a:clrScheme>
    <a:fontScheme name="GCC Atlas Deck">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1422</Words>
  <Application>Microsoft Office PowerPoint</Application>
  <PresentationFormat>Widescreen</PresentationFormat>
  <Paragraphs>159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IBM Plex Mono</vt:lpstr>
      <vt:lpstr>IBM Plex Sans</vt:lpstr>
      <vt:lpstr>Arial</vt:lpstr>
      <vt:lpstr>Bricolage Grotesque</vt:lpstr>
      <vt:lpstr>GCC Atlas Deck</vt:lpstr>
      <vt:lpstr>GCC Atlas</vt:lpstr>
      <vt:lpstr>Even the basics have no single answer</vt:lpstr>
      <vt:lpstr>Five groups are hurt by the asymmetry</vt:lpstr>
      <vt:lpstr>A wrong setup call is expensive</vt:lpstr>
      <vt:lpstr>Five opportunities, ranked</vt:lpstr>
      <vt:lpstr>Start where the decision is made, and show the evidence</vt:lpstr>
      <vt:lpstr>GCC Atlas: one place to decide where to set up</vt:lpstr>
      <vt:lpstr>A working prototype on sourced data only</vt:lpstr>
      <vt:lpstr>Why each group would come to Atlas</vt:lpstr>
      <vt:lpstr>Builds on what Flexiple already has</vt:lpstr>
      <vt:lpstr>What the data cannot tell you yet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GCC Atlas Deck</dc:title>
  <dc:subject/>
  <dc:creator>ADMIN</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dc:description>
  <cp:lastModifiedBy>Uppu Anjali</cp:lastModifiedBy>
  <cp:revision>2</cp:revision>
  <dcterms:created xsi:type="dcterms:W3CDTF">2026-10-21T09:39:14Z</dcterms:created>
  <dcterms:modified xsi:type="dcterms:W3CDTF">2026-10-21T09:48:58Z</dcterms:modified>
</cp:coreProperties>
</file>